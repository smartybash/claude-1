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AED/sqft sellable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D2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E9F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Indicative
non-branded
(subject)</c:v>
                  </c:pt>
                  <c:pt idx="1">
                    <c:v>Bay Grove
Residences</c:v>
                  </c:pt>
                  <c:pt idx="2">
                    <c:v>Bay Grove
Residences B</c:v>
                  </c:pt>
                  <c:pt idx="3">
                    <c:v>Dubai Islands
off-plan avg</c:v>
                  </c:pt>
                  <c:pt idx="4">
                    <c:v>Bay Apts
2024 (base)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2602</c:v>
                </c:pt>
                <c:pt idx="1">
                  <c:v>2460</c:v>
                </c:pt>
                <c:pt idx="2">
                  <c:v>2510</c:v>
                </c:pt>
                <c:pt idx="3">
                  <c:v>2340</c:v>
                </c:pt>
                <c:pt idx="4">
                  <c:v>2145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AED/sqft sellable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D2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D2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4E9F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Indicative
branded
(subject)</c:v>
                  </c:pt>
                  <c:pt idx="1">
                    <c:v>Rixos Dubai
Islands H&amp;R</c:v>
                  </c:pt>
                  <c:pt idx="2">
                    <c:v>Emaar
Beachfront</c:v>
                  </c:pt>
                  <c:pt idx="3">
                    <c:v>Bay Grove
Residences</c:v>
                  </c:pt>
                  <c:pt idx="4">
                    <c:v>Dubai Islands
off-plan avg</c:v>
                  </c:pt>
                  <c:pt idx="5">
                    <c:v>Dubai branded
resi. avg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3332</c:v>
                </c:pt>
                <c:pt idx="1">
                  <c:v>2900</c:v>
                </c:pt>
                <c:pt idx="2">
                  <c:v>3000</c:v>
                </c:pt>
                <c:pt idx="3">
                  <c:v>2460</c:v>
                </c:pt>
                <c:pt idx="4">
                  <c:v>2340</c:v>
                </c:pt>
                <c:pt idx="5">
                  <c:v>3289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overview and benchmarking – non-branded launch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new non-branded multi-family launch on Dubai Islands (scenario, benchmarked to DLD-registered transactions, as at Jul-2026)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2144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3291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benchmarking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1124712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indicative scheme comprises 296 apartments across a mid-rise plot on Dubai Islands, with a total sales value of AED 1,122m equating to AED 2,602 per sq.ft of sellable area. This positions a new non-branded launch c.21% above the 2024 Bay Apartments pricing (AED 2,145) and c.11% above the current Dubai Islands off-plan average (AED 2,340 per sq.ft, mid-2025), consistent with the island's continued price appreciation.</a:t>
            </a:r>
            <a:endParaRPr lang="en-US" sz="850" dirty="0"/>
          </a:p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Islands off-plan apartments registered an average of AED 2,162 per sq.ft in 2024, rising to AED 2,340 per sq.ft by mid-2025; H1-2025 recorded over 2,075 units transacted for c.AED 5.6bn. All-property average registered price on the island is AED 3.49m (DLD, trailing 12 months).</a:t>
            </a:r>
            <a:endParaRPr lang="en-US" sz="850" dirty="0"/>
          </a:p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non-branded DLD benchmark: Bay Grove Residences (Nakheel) has 298 apartments registered with DLD at an average of AED 3.14m (trailing 12 months, +1% over the last 6 months) and Bay Grove Residences B has 200 apartments registered at an average of AED 3.32m. Per-sq.ft figures marked (e) are derived from DLD average tickets and published unit sizes.</a:t>
            </a:r>
            <a:endParaRPr lang="en-US" sz="850" dirty="0"/>
          </a:p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(≤9-month) launches on the island – Helvetia Marine by DHG (Jan-26), Bay Estates Ph.1 by Nakheel (Mar-26), Wynwood by Imtiaz and Seaside by Prestige One – are listed in the accompanying transaction workbook; their registered per-sq.ft data is still accumulating and should be refreshed from DLD/Property Monitor before publication.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2779776"/>
            <a:ext cx="11521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660904"/>
            <a:ext cx="3291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benchmarking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2962656"/>
          <a:ext cx="113385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206240"/>
          <a:ext cx="113385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84248"/>
                <a:gridCol w="1984248"/>
                <a:gridCol w="1984248"/>
                <a:gridCol w="1984248"/>
                <a:gridCol w="1984248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270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non-branded launch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Grove Residences (Nakheel)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Grove Residences B (Nakheel)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 Islands off-plan avg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Apartments 2024 (base)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AED / sq.ft sellable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2,510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transactions (12m)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unit size (sq.ft)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ticket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basis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(2026E)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12m (e psf)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12m (e psf)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mkt (mid-25)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launch (Oct-24)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248656"/>
            <a:ext cx="11521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9768" y="5129784"/>
            <a:ext cx="3291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 – subject scheme</a:t>
            </a:r>
            <a:endParaRPr lang="en-US" sz="10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376672"/>
          <a:ext cx="11338560" cy="914400"/>
        </p:xfrm>
        <a:graphic>
          <a:graphicData uri="http://schemas.openxmlformats.org/drawingml/2006/table">
            <a:tbl>
              <a:tblPr/>
              <a:tblGrid>
                <a:gridCol w="1128482"/>
                <a:gridCol w="591110"/>
                <a:gridCol w="591110"/>
                <a:gridCol w="1021008"/>
                <a:gridCol w="1053250"/>
                <a:gridCol w="1096240"/>
                <a:gridCol w="988765"/>
                <a:gridCol w="881291"/>
                <a:gridCol w="881291"/>
                <a:gridCol w="881291"/>
                <a:gridCol w="1096240"/>
                <a:gridCol w="1128482"/>
              </a:tblGrid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Typology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internal (sq.ft)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sellable (sq.ft)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value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by value 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AED/sq.ft internal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AED/sq.ft sellable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bedroom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262.4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bedroom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3,247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bed + maid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389.8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bedroom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bedroom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2,747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1,122.4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320040" y="6656832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DLD-registered transactions via Bayut / Property Finder (trailing 12 months, as at Jul-2026). Subject column is an indicative scenario constructed from these benchmarks, not a live project. (e) = per-sq.ft estimated from DLD average ticket and published unit sizes. See accompanying transaction workbook for the underlying DLD data and recent ≤9-month launches.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overview and benchmarking – branded launch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new branded multi-family launch on Dubai Islands (Rixos-tier scenario, benchmarked to DLD-registered transactions)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152144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3291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benchmarking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1124712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indicative branded scheme comprises 150 larger-format apartments and penthouses, with a total sales value of AED 863m equating to AED 3,332 per sq.ft of sellable area. This prices a branded launch c.28% above the parallel non-branded scenario (AED 2,602 per sq.ft) and broadly in line with the Dubai-wide branded-residence average of AED 3,289 per sq.ft, while remaining below Palm Jumeirah and Jumeirah Bay branded pricing.</a:t>
            </a:r>
            <a:endParaRPr lang="en-US" sz="850" dirty="0"/>
          </a:p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On-island branded benchmark: Rixos Dubai Islands Hotel &amp; Residences (Nakheel / Accor) has 29 apartments registered with DLD at an average of AED 6.25m (trailing 12 months); the mix includes beach houses and duplexes, so the per-sq.ft figure is estimated (~AED 2,900). Swissotel Waterfront Residences (Accor, 105 homes) has launched but registered resale volume remains thin.</a:t>
            </a:r>
            <a:endParaRPr lang="en-US" sz="850" dirty="0"/>
          </a:p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there is no ≤9-month branded launch on Dubai Islands, recent branded waterfront comparables are used off-island: Emaar Beachfront apartments registered an average of AED 6.03m with DLD (trailing 12 months, +14% over 6 months) at c.AED 2,800-3,200 per sq.ft; Palm Jumeirah recorded 1,229 resales for AED 12.1bn (12 months to Nov-2025).</a:t>
            </a:r>
            <a:endParaRPr lang="en-US" sz="850" dirty="0"/>
          </a:p>
          <a:p>
            <a:pPr marL="152400" indent="-152400">
              <a:lnSpc>
                <a:spcPct val="96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residences in Dubai command a c.42% premium over non-branded stock (AED 3,289 vs AED 2,220 per sq.ft, H2-2024). On Dubai Islands the premium is compressed to c.28-35% because the non-branded base (AED 2,340 per sq.ft) is rising quickly; the indicative branded premium reflects this while still capturing brand value.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2779776"/>
            <a:ext cx="11521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660904"/>
            <a:ext cx="3291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benchmarking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2962656"/>
          <a:ext cx="113385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206240"/>
          <a:ext cx="113385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53540"/>
                <a:gridCol w="1653540"/>
                <a:gridCol w="1653540"/>
                <a:gridCol w="1653540"/>
                <a:gridCol w="1653540"/>
                <a:gridCol w="16535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270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branded launch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Rixos Dubai Islands H&amp;R (Accor)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Emaar Beachfront (branded, off-island)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Grove Residences (non-branded)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 Islands off-plan avg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 branded-resi. avg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AED / sq.ft sellable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transactions (12m)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unit size (sq.ft)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1,727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ticket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basis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(2026E)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12m · on-island (e psf)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12m · off-island (e psf)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12m · on-island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 mkt (mid-25)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report (H2-24)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248656"/>
            <a:ext cx="11521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9768" y="5129784"/>
            <a:ext cx="3291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 – subject scheme</a:t>
            </a:r>
            <a:endParaRPr lang="en-US" sz="10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376672"/>
          <a:ext cx="11338560" cy="914400"/>
        </p:xfrm>
        <a:graphic>
          <a:graphicData uri="http://schemas.openxmlformats.org/drawingml/2006/table">
            <a:tbl>
              <a:tblPr/>
              <a:tblGrid>
                <a:gridCol w="1128482"/>
                <a:gridCol w="591110"/>
                <a:gridCol w="591110"/>
                <a:gridCol w="1021008"/>
                <a:gridCol w="1053250"/>
                <a:gridCol w="1096240"/>
                <a:gridCol w="988765"/>
                <a:gridCol w="881291"/>
                <a:gridCol w="881291"/>
                <a:gridCol w="881291"/>
                <a:gridCol w="1096240"/>
                <a:gridCol w="1128482"/>
              </a:tblGrid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Typology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internal (sq.ft)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sellable (sq.ft)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value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by value 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(AED m)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AED/sq.ft internal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AED/sq.ft sellable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bedroom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4,263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bedroom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218.6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4,082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bed + maid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1,517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bedroom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bed / PH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1,417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1,727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862.9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4,061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320040" y="6656832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DLD-registered transactions via Bayut / Property Finder (trailing 12 months, as at Jul-2026); Dubai branded-residence average from published market report (H2-2024). Subject column is an indicative scenario constructed from these benchmarks, not a live project. (e) = per-sq.ft estimated from DLD average ticket and published unit sizes.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2026-07-22T10:13:56Z</dcterms:created>
  <dcterms:modified xsi:type="dcterms:W3CDTF">2026-07-22T10:13:56Z</dcterms:modified>
</cp:coreProperties>
</file>